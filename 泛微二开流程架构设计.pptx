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0F5"/>
                </a:solidFill>
                <a:latin typeface="Microsoft YaHei"/>
              </a:defRPr>
            </a:pPr>
            <a:r>
              <a:t>泛微二次开发流程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架构设计全貌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840480"/>
            <a:ext cx="30175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20624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A9AB0"/>
                </a:solidFill>
                <a:latin typeface="Microsoft YaHei"/>
              </a:defRPr>
            </a:pPr>
            <a:r>
              <a:t>4 阶段流水线  |  AI 思考 + SDK 执行  |  逆向推导 + 正向执行  |  人工仅在需求确认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2026.08  |  Claude Code + 泛微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总体架构：4 阶段流水线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人工只在①参与确认，②③④全程自动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286000" cy="3474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icrosoft YaHei"/>
              </a:defRPr>
            </a:pPr>
            <a: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Microsoft YaHei"/>
              </a:defRPr>
            </a:pPr>
            <a:r>
              <a:t>需求分析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analyze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108960"/>
            <a:ext cx="20116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0"/>
                </a:solidFill>
                <a:latin typeface="Microsoft YaHei"/>
              </a:defRPr>
            </a:pPr>
            <a:r>
              <a:t>模糊想法→功能清单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023360"/>
            <a:ext cx="2011680" cy="822960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产出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01-需求文档.md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63240" y="3017520"/>
            <a:ext cx="274320" cy="32004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1645920"/>
            <a:ext cx="2286000" cy="3474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A2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25BFF"/>
                </a:solidFill>
                <a:latin typeface="Microsoft YaHei"/>
              </a:defRPr>
            </a:pPr>
            <a: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Microsoft YaHei"/>
              </a:defRPr>
            </a:pPr>
            <a:r>
              <a:t>方案设计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3108960"/>
            <a:ext cx="20116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0"/>
                </a:solidFill>
                <a:latin typeface="Microsoft YaHei"/>
              </a:defRPr>
            </a:pPr>
            <a:r>
              <a:t>功能清单→三份文档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4023360"/>
            <a:ext cx="2011680" cy="822960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25BFF"/>
                </a:solidFill>
                <a:latin typeface="Microsoft YaHei"/>
              </a:defRPr>
            </a:pPr>
            <a:r>
              <a:t>产出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01~03 三份文档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715000" y="3017520"/>
            <a:ext cx="274320" cy="320040"/>
          </a:xfrm>
          <a:prstGeom prst="rightArrow">
            <a:avLst/>
          </a:prstGeom>
          <a:solidFill>
            <a:srgbClr val="A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5040" y="1645920"/>
            <a:ext cx="2286000" cy="3474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Microsoft YaHei"/>
              </a:defRPr>
            </a:pPr>
            <a: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Microsoft YaHei"/>
              </a:defRPr>
            </a:pPr>
            <a:r>
              <a:t>开发执行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execute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108960"/>
            <a:ext cx="20116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0"/>
                </a:solidFill>
                <a:latin typeface="Microsoft YaHei"/>
              </a:defRPr>
            </a:pPr>
            <a:r>
              <a:t>开发设计→实际配置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023360"/>
            <a:ext cx="2011680" cy="822960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Microsoft YaHei"/>
              </a:defRPr>
            </a:pPr>
            <a:r>
              <a:t>产出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04-执行记录.md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366760" y="3017520"/>
            <a:ext cx="274320" cy="32004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86800" y="1645920"/>
            <a:ext cx="2286000" cy="3474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43"/>
                </a:solidFill>
                <a:latin typeface="Microsoft YaHei"/>
              </a:defRPr>
            </a:pPr>
            <a:r>
              <a:t>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Microsoft YaHei"/>
              </a:defRPr>
            </a:pPr>
            <a:r>
              <a:t>测试验收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verify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23960" y="3108960"/>
            <a:ext cx="20116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2396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0"/>
                </a:solidFill>
                <a:latin typeface="Microsoft YaHei"/>
              </a:defRPr>
            </a:pPr>
            <a:r>
              <a:t>测试文档→测试报告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23960" y="4023360"/>
            <a:ext cx="2011680" cy="822960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产出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05-测试报告.md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AB0"/>
                </a:solidFill>
                <a:latin typeface="Microsoft YaHei"/>
              </a:defRPr>
            </a:pPr>
            <a:r>
              <a:t>核心原则：AI 思考 + SDK 执行  |  逆向推导 + 正向执行  |  人工仅参与需求确认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① 需求分析 — 把模糊想法变成功能清单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只管"做什么"，不管"怎么做"。纯业务语言，不带技术词。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Microsoft YaHei"/>
              </a:defRPr>
            </a:pPr>
            <a:r>
              <a:t>自我理解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74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拆语义→识别场景→找缺口→上网调研</a:t>
            </a:r>
            <a:br/>
            <a:r>
              <a:t>带着理解去问，不当复读机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Microsoft YaHei"/>
              </a:defRPr>
            </a:pPr>
            <a:r>
              <a:t>对话追问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一次只问一个，解释为什么问</a:t>
            </a:r>
            <a:br/>
            <a:r>
              <a:t>最多5-8轮，用户说"你定"就收手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Microsoft YaHei"/>
              </a:defRPr>
            </a:pPr>
            <a:r>
              <a:t>出方案草案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51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主动出一版方案，别等用户自己拼</a:t>
            </a:r>
            <a:br/>
            <a:r>
              <a:t>含：功能模块 + 假设 + 待定项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Microsoft YaHei"/>
              </a:defRPr>
            </a:pPr>
            <a:r>
              <a:t>确认→出文档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40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生成01-需求文档.md</a:t>
            </a:r>
            <a:br/>
            <a:r>
              <a:t>7章：原始需求/功能清单/角色权限/流程/边界/待定/附录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554480"/>
            <a:ext cx="4297680" cy="47548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691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需求文档模板（7 章）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1488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Microsoft YaHei"/>
              </a:defRPr>
            </a:pPr>
            <a:r>
              <a:t>一、原始需求（用户原话）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651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Microsoft YaHei"/>
              </a:defRPr>
            </a:pPr>
            <a:r>
              <a:t>二、功能清单（模块+描述+验收标准）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1546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Microsoft YaHei"/>
              </a:defRPr>
            </a:pPr>
            <a:r>
              <a:t>三、角色与权限（谁干什么）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6576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Microsoft YaHei"/>
              </a:defRPr>
            </a:pPr>
            <a:r>
              <a:t>四、业务流程（正常+异常处理）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1605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Microsoft YaHei"/>
              </a:defRPr>
            </a:pPr>
            <a:r>
              <a:t>五、边界用例（并发/冲突/越权）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663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六、待定项清单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166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七、附录：调研参考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623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F43"/>
                </a:solidFill>
                <a:latin typeface="Microsoft YaHei"/>
              </a:defRPr>
            </a:pPr>
            <a:r>
              <a:t>每个功能至少3条验收标准（Given-When-Then）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② 方案设计 — 6 步出齐三份文档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有依据才设计，能力文档是边界，一次出齐不卡确认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4592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场景定位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48840"/>
            <a:ext cx="310896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扫描关键词→判断能力域</a:t>
            </a:r>
            <a:br/>
            <a:r>
              <a:t>（建模/流程/移动/定时/混合）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A2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645920"/>
            <a:ext cx="457200" cy="457200"/>
          </a:xfrm>
          <a:prstGeom prst="ellipse">
            <a:avLst/>
          </a:prstGeom>
          <a:solidFill>
            <a:srgbClr val="A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能力推导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148840"/>
            <a:ext cx="310896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从终点逆向推导完整依赖链</a:t>
            </a:r>
            <a:br/>
            <a:r>
              <a:t>自然完成数据结构分析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38328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A2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80" y="1645920"/>
            <a:ext cx="457200" cy="457200"/>
          </a:xfrm>
          <a:prstGeom prst="ellipse">
            <a:avLst/>
          </a:prstGeom>
          <a:solidFill>
            <a:srgbClr val="A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依赖分析+步骤设计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2148840"/>
            <a:ext cx="310896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确定拓扑顺序，编写每步操作</a:t>
            </a:r>
            <a:br/>
            <a:r>
              <a:t>含跳过字段清单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40"/>
            <a:ext cx="338328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填充 SDK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617720"/>
            <a:ext cx="310896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确定tool+读参数格式+读思考点</a:t>
            </a:r>
            <a:br/>
            <a:r>
              <a:t>+辅助查询→填充完整参数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977640"/>
            <a:ext cx="338328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26280" y="4114800"/>
            <a:ext cx="457200" cy="45720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标注不支持项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4617720"/>
            <a:ext cx="310896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对照需求逐一检查泛微原生</a:t>
            </a:r>
            <a:br/>
            <a:r>
              <a:t>明确标注+给替代方案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977640"/>
            <a:ext cx="338328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83880" y="411480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生成三份文档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4617720"/>
            <a:ext cx="310896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数据结构+开发设计+测试</a:t>
            </a:r>
            <a:br/>
            <a:r>
              <a:t>一次出齐，统一审阅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160520" y="2423160"/>
            <a:ext cx="228600" cy="228600"/>
          </a:xfrm>
          <a:prstGeom prst="rightArrow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818120" y="2423160"/>
            <a:ext cx="228600" cy="228600"/>
          </a:xfrm>
          <a:prstGeom prst="rightArrow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4160520" y="4892040"/>
            <a:ext cx="228600" cy="228600"/>
          </a:xfrm>
          <a:prstGeom prst="rightArrow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7818120" y="4892040"/>
            <a:ext cx="228600" cy="228600"/>
          </a:xfrm>
          <a:prstGeom prst="rightArrow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核心思路：逆向推导 + 正向执行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从终点倒推依赖链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Microsoft YaHei"/>
              </a:defRPr>
            </a:pPr>
            <a:r>
              <a:t>我要做菜单</a:t>
            </a:r>
          </a:p>
        </p:txBody>
      </p:sp>
      <p:sp>
        <p:nvSpPr>
          <p:cNvPr id="6" name="Down Arrow 5"/>
          <p:cNvSpPr/>
          <p:nvPr/>
        </p:nvSpPr>
        <p:spPr>
          <a:xfrm>
            <a:off x="868680" y="2148840"/>
            <a:ext cx="182880" cy="274320"/>
          </a:xfrm>
          <a:prstGeom prst="downArrow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Microsoft YaHei"/>
              </a:defRPr>
            </a:pPr>
            <a:r>
              <a:t>菜单需要查询 ID</a:t>
            </a:r>
          </a:p>
        </p:txBody>
      </p:sp>
      <p:sp>
        <p:nvSpPr>
          <p:cNvPr id="9" name="Down Arrow 8"/>
          <p:cNvSpPr/>
          <p:nvPr/>
        </p:nvSpPr>
        <p:spPr>
          <a:xfrm>
            <a:off x="868680" y="2926080"/>
            <a:ext cx="182880" cy="274320"/>
          </a:xfrm>
          <a:prstGeom prst="downArrow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Microsoft YaHei"/>
              </a:defRPr>
            </a:pPr>
            <a:r>
              <a:t>查询需要模块 ID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68680" y="3703320"/>
            <a:ext cx="182880" cy="274320"/>
          </a:xfrm>
          <a:prstGeom prst="downArrow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Microsoft YaHei"/>
              </a:defRPr>
            </a:pPr>
            <a:r>
              <a:t>模块需要表单 ID + 应用 ID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68680" y="4480560"/>
            <a:ext cx="182880" cy="274320"/>
          </a:xfrm>
          <a:prstGeom prst="downArrow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Microsoft YaHei"/>
              </a:defRPr>
            </a:pPr>
            <a:r>
              <a:t>表单需要字段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188720"/>
            <a:ext cx="27432" cy="50292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3474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反转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Microsoft YaHei"/>
              </a:defRPr>
            </a:pPr>
            <a:r>
              <a:t>倒推结果反过来=执行顺序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确认/创建应用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→ 应用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305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130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创建表单+字段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→ 表单 ID+字段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94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569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刷新缓存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5694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→ label 生效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0083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083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创建自定义浏览框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0083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→ 浏览框配置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4472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447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补加跳过字段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447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→ 字段补齐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886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886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创建模块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→ 模块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3251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325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创建查询列表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4325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→ 查询配置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7640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7640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配置布局+联动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764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→ 布局 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2029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2029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配置快捷搜索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52029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→ 搜索条件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6418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创建菜单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5641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→ 菜单入口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环形依赖处理（先有鸡还是先有蛋）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跳过依赖字段 → 创建浏览框 → add_fields_to_form 补加 → 验证 type=161（非 type=8）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③ 执行  +  ④ 测试 — 一步一验证，一路到底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Microsoft YaHei"/>
              </a:defRPr>
            </a:pPr>
            <a:r>
              <a:t>③ 开发执行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Microsoft YaHei"/>
              </a:defRPr>
            </a:pPr>
            <a:r>
              <a:t>严格按步骤顺序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299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不能跳、不能乱、不能自己发挥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Microsoft YaHei"/>
              </a:defRPr>
            </a:pPr>
            <a:r>
              <a:t>每步做完必验证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调了SDK不算完，确认数据真写进去了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95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89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Microsoft YaHei"/>
              </a:defRPr>
            </a:pPr>
            <a:r>
              <a:t>出错了自己排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90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看错误→对照设计→修正重试1次，两次不行再找用户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198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198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Microsoft YaHei"/>
              </a:defRPr>
            </a:pPr>
            <a:r>
              <a:t>一路执行到底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210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中间不卡确认，完成统一汇报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502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9502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Microsoft YaHei"/>
              </a:defRPr>
            </a:pPr>
            <a:r>
              <a:t>详细记录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5137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调了什么、什么参数、返回什么、成功/失败、耗时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Microsoft YaHei"/>
              </a:defRPr>
            </a:pPr>
            <a:r>
              <a:t>字段类型严格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6817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按设计文档传入完整类型，禁依赖SDK自动推断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109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010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Microsoft YaHei"/>
              </a:defRPr>
            </a:pPr>
            <a:r>
              <a:t>脏数据即时清理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212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测试数据用完就清，不污染正式数据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412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412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Microsoft YaHei"/>
              </a:defRPr>
            </a:pPr>
            <a:r>
              <a:t>缓存必须刷新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7424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全部完成后调modeCacheRefresh.jsp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Microsoft YaHei"/>
              </a:defRPr>
            </a:pPr>
            <a:r>
              <a:t>④ 测试验收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Microsoft YaHei"/>
              </a:defRPr>
            </a:pPr>
            <a:r>
              <a:t>严格按测试文档来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0299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不自己编用例、不跳过、不挑容易的先跑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3591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359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Microsoft YaHei"/>
              </a:defRPr>
            </a:pPr>
            <a:r>
              <a:t>正常+异常+边界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所有用例类型都覆盖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8895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28895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Microsoft YaHei"/>
              </a:defRPr>
            </a:pPr>
            <a:r>
              <a:t>表层底层都要验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3090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SQL查表有数据≠用户能用，页面也要验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4198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34198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Microsoft YaHei"/>
              </a:defRPr>
            </a:pPr>
            <a:r>
              <a:t>测试数据隔离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36210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加_test标记，测完清理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757"/>
                </a:solidFill>
                <a:latin typeface="Microsoft YaHei"/>
              </a:defRPr>
            </a:pPr>
            <a:r>
              <a:t>失败分类处理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389120"/>
            <a:ext cx="1371600" cy="411480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434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工具异常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4434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SDK/MCP报错 → 标注"疑似工具异常" → 不动手改工具代码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4983480"/>
            <a:ext cx="1371600" cy="41148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50292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数据/配置错误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5029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分析→修正→重跑→验证，自动处理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577840"/>
            <a:ext cx="1371600" cy="41148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623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判断不确定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5623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告诉用户，请帮忙确认是工具还是配置问题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规则体系：阻断检查 + 能力地图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669280" cy="52120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757"/>
                </a:solidFill>
                <a:latin typeface="Microsoft YaHei"/>
              </a:defRPr>
            </a:pPr>
            <a:r>
              <a:t>执行前阻断检查（调 SDK 前必须通过）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Microsoft YaHei"/>
              </a:defRPr>
            </a:pPr>
            <a:r>
              <a:t>浏览框依赖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3055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必须输出: 输出依赖分析图，标注环形依赖处理策略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757"/>
                </a:solidFill>
                <a:latin typeface="Microsoft YaHei"/>
              </a:defRPr>
            </a:pPr>
            <a:r>
              <a:t>禁止: 不分析依赖顺序直接创建表单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1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Microsoft YaHei"/>
              </a:defRPr>
            </a:pPr>
            <a:r>
              <a:t>布局分组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9923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必须输出: 每组名称 + 包含字段列表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1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757"/>
                </a:solidFill>
                <a:latin typeface="Microsoft YaHei"/>
              </a:defRPr>
            </a:pPr>
            <a:r>
              <a:t>禁止: 无分组方案直接调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Microsoft YaHei"/>
              </a:defRPr>
            </a:pPr>
            <a:r>
              <a:t>查询字段排序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6791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必须输出: 显示顺序及理由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79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757"/>
                </a:solidFill>
                <a:latin typeface="Microsoft YaHei"/>
              </a:defRPr>
            </a:pPr>
            <a:r>
              <a:t>禁止: 直接用表单默认顺序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Microsoft YaHei"/>
              </a:defRPr>
            </a:pPr>
            <a:r>
              <a:t>快捷搜索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3659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必须输出: 谁在查、怎么搜、选几个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757"/>
                </a:solidFill>
                <a:latin typeface="Microsoft YaHei"/>
              </a:defRPr>
            </a:pPr>
            <a:r>
              <a:t>禁止: 不思考直接选前几个字段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Microsoft YaHei"/>
              </a:defRPr>
            </a:pPr>
            <a:r>
              <a:t>浏览框字段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0527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必须输出: 展示/链接/查询字段角色划分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757"/>
                </a:solidFill>
                <a:latin typeface="Microsoft YaHei"/>
              </a:defRPr>
            </a:pPr>
            <a:r>
              <a:t>禁止: 直接用 SDK 默认前 N 个字段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188720"/>
            <a:ext cx="5212080" cy="52120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10 大能力 + 30+ MCP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应用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create / list / rename / delete / move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2585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表单 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258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create / add_fields / list_fields / 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6883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浏览框 Browser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6883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create / list / delete + 系统浏览框查询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1181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模块 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1181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create / update / delete / get_detail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5478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布局 Layout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547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generate_json / insert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977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查询 Query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977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create / save_formfields / update / delete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407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快捷搜索 QuickSearch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407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create / add_condition / list / delete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8371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菜单 Menu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8371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create / sub_menus / tree / visibility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2669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字段联动 Linkage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52669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create / list / delete / toggle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6967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缓存 Cache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696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refresh_label_cache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场景分类路由 + 文档体系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4 大能力域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8686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建模引擎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关键词: 表单/字段/增删改查/查询列表/浏览框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典型: 项目管理、合同登记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029200" cy="8686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A2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25BFF"/>
                </a:solidFill>
                <a:latin typeface="Microsoft YaHei"/>
              </a:defRPr>
            </a:pPr>
            <a:r>
              <a:t>流程引擎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815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关键词: 审批/流程/节点/流转/会签/转交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典型: 请假审批、报销流程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5029200" cy="8686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Microsoft YaHei"/>
              </a:defRPr>
            </a:pPr>
            <a:r>
              <a:t>移动建模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33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关键词: 移动端/H5/小程序/企微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典型: 手机端填报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5029200" cy="8686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Microsoft YaHei"/>
              </a:defRPr>
            </a:pPr>
            <a:r>
              <a:t>定时任务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846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关键词: 定时/轮询/自动执行/计划任务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典型: 每日统计、过期处理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Microsoft YaHei"/>
              </a:defRPr>
            </a:pPr>
            <a:r>
              <a:t>多域混合 → 按域拆分为独立子需求，分别走后续流程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Microsoft YaHei"/>
              </a:defRPr>
            </a:pPr>
            <a:r>
              <a:t>项目文档体系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01-需求文档.md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600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① 需求分析产出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562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功能清单+角色权限+业务流程+验收标准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25BFF"/>
                </a:solidFill>
                <a:latin typeface="Microsoft YaHei"/>
              </a:defRPr>
            </a:pPr>
            <a:r>
              <a:t>01-数据结构设计.md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77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② 方案设计产出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33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表结构+字段+浏览框+依赖关系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54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25BFF"/>
                </a:solidFill>
                <a:latin typeface="Microsoft YaHei"/>
              </a:defRPr>
            </a:pPr>
            <a:r>
              <a:t>02-开发设计.md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154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② 方案设计产出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4107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执行步骤+SDK参数+前端效果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25BFF"/>
                </a:solidFill>
                <a:latin typeface="Microsoft YaHei"/>
              </a:defRPr>
            </a:pPr>
            <a:r>
              <a:t>03-测试文档.md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② 方案设计产出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正常+异常+边界用例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04-执行记录.md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709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③ 开发执行产出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9651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每步调用记录+验证结果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05-测试报告.md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④ 测试验收产出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742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通过率+失败详情+结论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反面模式清单 — 全局红线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757"/>
                </a:solidFill>
                <a:latin typeface="Microsoft YaHei"/>
              </a:defRPr>
            </a:pPr>
            <a:r>
              <a:t>踩中任何一条，流程就必须停下来修正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685800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90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不分析依赖顺序直接创建表单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647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先输出依赖分析图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685800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90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4904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调 SDK 前不输出思考点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64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647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必须先输出布局分组/查询排序/搜索字段等分析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21992"/>
            <a:ext cx="5394960" cy="685800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951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2951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只写字段名不传类型就调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694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56946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按设计文档传入完整 type/db_type/browser_id 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221992"/>
            <a:ext cx="5394960" cy="685800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2951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2951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功能设计没有对应需求编号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5694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56946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每个设计项标注需求编号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026664"/>
            <a:ext cx="5394960" cy="685800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98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0998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测试只跑正常流程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3741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正常+异常+边界都覆盖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026664"/>
            <a:ext cx="5394960" cy="685800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0998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0998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开发设计写"待定"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3741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3741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能自动标自动，不能给手动步骤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831336"/>
            <a:ext cx="5394960" cy="685800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9044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9044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环形依赖不处理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1788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1788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跳过→创建浏览框→补加字段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831336"/>
            <a:ext cx="5394960" cy="685800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9044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9044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三份文档分批生成卡确认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1788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1788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一次出齐，统一审阅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36008"/>
            <a:ext cx="5394960" cy="685800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709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自己编测试用例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4983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983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严格按测试文档来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636008"/>
            <a:ext cx="5394960" cy="685800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709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4709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测试失败改工具代码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983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983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记录待人工确认，绝对不改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440680"/>
            <a:ext cx="5394960" cy="685800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5138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55138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跳过 SDK 直接操作数据库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7881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7881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先查 SDK → 再查数据库 → 最后查源码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5440680"/>
            <a:ext cx="5394960" cy="685800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55138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55138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凭经验猜列名表名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57881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57881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先 SELECT TOP 1 拿列名再写 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Skill 间数据流 — 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004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0F5"/>
                </a:solidFill>
                <a:latin typeface="Microsoft YaHei"/>
              </a:defRPr>
            </a:pPr>
            <a:r>
              <a:t>用户一句话</a:t>
            </a:r>
          </a:p>
        </p:txBody>
      </p:sp>
      <p:sp>
        <p:nvSpPr>
          <p:cNvPr id="5" name="Down Arrow 4"/>
          <p:cNvSpPr/>
          <p:nvPr/>
        </p:nvSpPr>
        <p:spPr>
          <a:xfrm>
            <a:off x="2194560" y="1920240"/>
            <a:ext cx="182880" cy="274320"/>
          </a:xfrm>
          <a:prstGeom prst="downArrow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2004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0F5"/>
                </a:solidFill>
                <a:latin typeface="Microsoft YaHei"/>
              </a:defRPr>
            </a:pPr>
            <a:r>
              <a:t>① oa-analyze-requirement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2860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输出: 01-需求文档.md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94560" y="2743200"/>
            <a:ext cx="182880" cy="274320"/>
          </a:xfrm>
          <a:prstGeom prst="downArrow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3200400" cy="457200"/>
          </a:xfrm>
          <a:prstGeom prst="roundRect">
            <a:avLst/>
          </a:prstGeom>
          <a:solidFill>
            <a:srgbClr val="A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56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0F5"/>
                </a:solidFill>
                <a:latin typeface="Microsoft YaHei"/>
              </a:defRPr>
            </a:pPr>
            <a:r>
              <a:t>② oa-generate-design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383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输入: 01-需求文档</a:t>
            </a:r>
            <a:br/>
            <a:r>
              <a:t>读取: capability-map + derivation-rules</a:t>
            </a:r>
            <a:br/>
            <a:r>
              <a:t>      + scenario-class + sdk-reference</a:t>
            </a:r>
            <a:br/>
            <a:r>
              <a:t>输出: 01-数据结构 + 02-开发设计 + 03-测试文档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194560" y="3840480"/>
            <a:ext cx="182880" cy="274320"/>
          </a:xfrm>
          <a:prstGeom prst="downArrow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3200400" cy="4572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365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0F5"/>
                </a:solidFill>
                <a:latin typeface="Microsoft YaHei"/>
              </a:defRPr>
            </a:pPr>
            <a:r>
              <a:t>③ oa-execute-dev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6634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输入: 02-开发设计 + 03-测试文档</a:t>
            </a:r>
            <a:br/>
            <a:r>
              <a:t>读取: modeling-rules + sdk-reference</a:t>
            </a:r>
            <a:br/>
            <a:r>
              <a:t>输出: 04-执行记录.md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194560" y="5120640"/>
            <a:ext cx="182880" cy="274320"/>
          </a:xfrm>
          <a:prstGeom prst="downArrow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5669280"/>
            <a:ext cx="3200400" cy="4572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42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0F5"/>
                </a:solidFill>
                <a:latin typeface="Microsoft YaHei"/>
              </a:defRPr>
            </a:pPr>
            <a:r>
              <a:t>④ oa-test-verify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669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输入: 03-测试文档 + 04-执行记录</a:t>
            </a:r>
            <a:br/>
            <a:r>
              <a:t>输出: 05-测试报告.md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63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全部通过 → 可上线    |    有未通过 → 回到③修复后重测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操作优先级 + 建模要素完整性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操作优先级（泛微/二开相关）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57200" cy="4572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64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09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先查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39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search_sdk.py 按中文描述搜索匹配方法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457200" cy="4572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15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再查数据库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44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SDK无法满足时，通过MCP Server直接操作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457200" cy="457200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764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21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最后查其它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507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以上都找不到时，翻Java源码/查文档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757"/>
                </a:solidFill>
                <a:latin typeface="Microsoft YaHei"/>
              </a:defRPr>
            </a:pPr>
            <a:r>
              <a:t>禁止：跳过 SDK 直接操作数据库或翻源码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Microsoft YaHei"/>
              </a:defRPr>
            </a:pPr>
            <a:r>
              <a:t>建模要素完整性校验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00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默认每个表单都必须至少有一个模块和一个查询</a:t>
            </a:r>
            <a:br/>
            <a:r>
              <a:t>创建依赖链：没有表单→没有模块→没有查询→没有菜单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Microsoft YaHei"/>
              </a:defRPr>
            </a:pPr>
            <a:r>
              <a:t>强制输出建模要素对照表：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表单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查询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浏览框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项目申报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项目申报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项目申报列表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Microsoft YaHei"/>
              </a:defRPr>
            </a:pPr>
            <a:r>
              <a:t>项目浏览框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Microsoft YaHei"/>
              </a:defRPr>
            </a:pPr>
            <a:r>
              <a:t>校验规则：表单、模块、查询列数量必须相等</a:t>
            </a:r>
            <a:br/>
            <a:r>
              <a:t>缺了必须说明原因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Microsoft YaHei"/>
              </a:defRPr>
            </a:pPr>
            <a:r>
              <a:t>各能力域强制规范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26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应用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526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新建，不允许复用；必须在「AI实践应用」下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表单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029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必须提供完整数据模型，禁止依赖SDK自动推断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532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模块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532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必须创建三种布局+设置权限+分析字段联动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035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查询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6035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必须设置显示列+1~4个快捷搜索+权限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Microsoft YaHei"/>
              </a:defRPr>
            </a:pPr>
            <a:r>
              <a:t>三条核心思路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0175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AI 思考 + SDK 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A9AB0"/>
                </a:solidFill>
                <a:latin typeface="Microsoft YaHei"/>
              </a:defRPr>
            </a:pPr>
            <a:r>
              <a:t>调 SDK 前必须完成业务分析，SDK 只管执行不做分析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0233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25BFF"/>
                </a:solidFill>
                <a:latin typeface="Microsoft YaHei"/>
              </a:defRPr>
            </a:pPr>
            <a:r>
              <a:t>逆向推导 + 正向执行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48056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A9AB0"/>
                </a:solidFill>
                <a:latin typeface="Microsoft YaHei"/>
              </a:defRPr>
            </a:pPr>
            <a:r>
              <a:t>从终点倒推依赖链，反过来就是执行顺序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Microsoft YaHei"/>
              </a:defRPr>
            </a:pPr>
            <a:r>
              <a:t>人工仅参与需求确认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4864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A9AB0"/>
                </a:solidFill>
                <a:latin typeface="Microsoft YaHei"/>
              </a:defRPr>
            </a:pPr>
            <a:r>
              <a:t>确认后全程自动，4阶段流水线一路到底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5760720"/>
            <a:ext cx="30175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泛微二次开发流程架构  |  2026.08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能力版图：已完成 vs 未完成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" cy="2286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24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已完成（SDK 自动化）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28600" cy="228600"/>
          </a:xfrm>
          <a:prstGeom prst="rect">
            <a:avLst/>
          </a:prstGeom>
          <a:solidFill>
            <a:srgbClr val="FFD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0" y="1024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部分完成（有 SDK，缺能力）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51560"/>
            <a:ext cx="228600" cy="2286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24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仅手动（无 SDK，需后台操作）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051560"/>
            <a:ext cx="228600" cy="2286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024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未开始（无 SDK 无流程）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65960"/>
            <a:ext cx="5120640" cy="9144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Microsoft YaHei"/>
              </a:defRPr>
            </a:pPr>
            <a:r>
              <a:t>建模引擎 — 基础能力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23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0"/>
                </a:solidFill>
                <a:latin typeface="Microsoft YaHei"/>
              </a:defRPr>
            </a:pPr>
            <a:r>
              <a:t>应用/表单/模块/浏览框/查询/布局/快捷搜索/菜单/字段联动/缓存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757"/>
                </a:solidFill>
                <a:latin typeface="Microsoft YaHei"/>
              </a:defRPr>
            </a:pPr>
            <a:r>
              <a:t>未完成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65960"/>
            <a:ext cx="5303520" cy="658368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39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757"/>
                </a:solidFill>
                <a:latin typeface="Microsoft YaHei"/>
              </a:defRPr>
            </a:pPr>
            <a:r>
              <a:t>流程引擎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审批节点/流转条件/签字意见/权限配置 | 全部手动，无 SDK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303520" cy="658368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816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757"/>
                </a:solidFill>
                <a:latin typeface="Microsoft YaHei"/>
              </a:defRPr>
            </a:pPr>
            <a:r>
              <a:t>定时任务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周期执行/自动触发/过期处理 | 泛微原生支持有限，无 SDK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520440"/>
            <a:ext cx="5303520" cy="658368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93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757"/>
                </a:solidFill>
                <a:latin typeface="Microsoft YaHei"/>
              </a:defRPr>
            </a:pPr>
            <a:r>
              <a:t>移动建模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40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H5 适配/移动端布局/企微推送 | 无 SDK，未纳入流程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297680"/>
            <a:ext cx="5303520" cy="658368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370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757"/>
                </a:solidFill>
                <a:latin typeface="Microsoft YaHei"/>
              </a:defRPr>
            </a:pPr>
            <a:r>
              <a:t>低代码集成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17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自定义页面/嵌入组件/数据联动 | 无 SDK，未纳入流程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12080"/>
            <a:ext cx="11064240" cy="13716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D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B"/>
                </a:solidFill>
                <a:latin typeface="Microsoft YaHei"/>
              </a:defRPr>
            </a:pPr>
            <a:r>
              <a:t>建模引擎内部缺口（已有 SDK，但能力不完整）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93B"/>
                </a:solidFill>
                <a:latin typeface="Microsoft YaHei"/>
              </a:defRPr>
            </a:pPr>
            <a:r>
              <a:t>查询关联链接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查询列表中点击行跳转详情/关联表单，linktype 配置不完整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76072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93B"/>
                </a:solidFill>
                <a:latin typeface="Microsoft YaHei"/>
              </a:defRPr>
            </a:pPr>
            <a:r>
              <a:t>布局嵌入低代码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9436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模块布局中插入自定义 HTML/JS/iframe 组件，无 SDK 支持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76072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93B"/>
                </a:solidFill>
                <a:latin typeface="Microsoft YaHei"/>
              </a:defRPr>
            </a:pPr>
            <a:r>
              <a:t>页面嵌套关联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9436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主从表关联、一对多明细表、关联数据展示，无 SDK 支持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1722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93B"/>
                </a:solidFill>
                <a:latin typeface="Microsoft YaHei"/>
              </a:defRPr>
            </a:pPr>
            <a:r>
              <a:t>权限精细控制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355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模块默认权限可创建，但字段级/行级权限无 SDK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1722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93B"/>
                </a:solidFill>
                <a:latin typeface="Microsoft YaHei"/>
              </a:defRPr>
            </a:pPr>
            <a:r>
              <a:t>数据导入导出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6355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批量导入/导出 Excel，无 SDK 支持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未完成模块详解：流程引擎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关键词：审批/流程/节点/流转/会签/转交/驳回/签字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0972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当前状态：仅手动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流程引擎的所有配置（创建审批流程、配置签字意见、配置流程权限）都只能在 OA 管理后台手动操作，目前没有 SDK 支持，也未纳入自动化流程。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Microsoft YaHei"/>
              </a:defRPr>
            </a:pPr>
            <a:r>
              <a:t>需要覆盖的流程引擎能力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当前操作位置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3291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Microsoft YaHei"/>
              </a:defRPr>
            </a:pPr>
            <a:r>
              <a:t>流程定义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创建/编辑/删除审批流程，配置流程表单关联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OA后台 &gt; 流程设置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3630168"/>
            <a:ext cx="1097280" cy="256032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364845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959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Microsoft YaHei"/>
              </a:defRPr>
            </a:pPr>
            <a:r>
              <a:t>节点配置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995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审批节点、条件分支、并发分支、汇聚节点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9959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OA后台 &gt; 节点设置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4014216"/>
            <a:ext cx="1097280" cy="256032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403250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799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Microsoft YaHei"/>
              </a:defRPr>
            </a:pPr>
            <a:r>
              <a:t>审批人规则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3799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指定审批人、按角色/部门/上级自动匹配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3799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OA后台 &gt; 审批人设置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4398264"/>
            <a:ext cx="1097280" cy="256032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441655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640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Microsoft YaHei"/>
              </a:defRPr>
            </a:pPr>
            <a:r>
              <a:t>流转条件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7640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字段值判断决定走向（金额&gt;5000走总监）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764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OA后台 &gt; 条件设置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4782312"/>
            <a:ext cx="1097280" cy="256032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5560" y="4800600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48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Microsoft YaHei"/>
              </a:defRPr>
            </a:pPr>
            <a:r>
              <a:t>签字意见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5148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审批时签字格式、必填项、意见模板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148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OA后台 &gt; 签字设置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40" y="5166360"/>
            <a:ext cx="1097280" cy="256032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518464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Microsoft YaHei"/>
              </a:defRPr>
            </a:pPr>
            <a:r>
              <a:t>流程权限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谁能发起、谁能查看、谁能干预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OA后台 &gt; 权限设置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5550408"/>
            <a:ext cx="1097280" cy="256032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5560" y="556869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916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Microsoft YaHei"/>
              </a:defRPr>
            </a:pPr>
            <a:r>
              <a:t>流程监控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5916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查看在途流程、催办、干预、撤回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5916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OA后台 &gt; 流程监控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5934456"/>
            <a:ext cx="1097280" cy="256032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95560" y="59527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3002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Microsoft YaHei"/>
              </a:defRPr>
            </a:pPr>
            <a:r>
              <a:t>通知提醒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63002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待办提醒、超时提醒、流转通知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63002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OA后台 &gt; 通知设置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49840" y="6318504"/>
            <a:ext cx="1097280" cy="256032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95560" y="63367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流程引擎是泛微 OA 最核心的能力之一，当前完全依赖手动配置，是最大的未完成模块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建模引擎内部缺口 — 已有 SDK 但能力不完整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B"/>
                </a:solidFill>
                <a:latin typeface="Microsoft YaHei"/>
              </a:defRPr>
            </a:pPr>
            <a:r>
              <a:t>这些缺口影响了建模引擎端到端的交付质量，是优先级最高的待办项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932688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查询关联链接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527048"/>
            <a:ext cx="822960" cy="228600"/>
          </a:xfrm>
          <a:prstGeom prst="roundRect">
            <a:avLst/>
          </a:prstGeom>
          <a:solidFill>
            <a:srgbClr val="FFD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54533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Microsoft YaHei"/>
              </a:defRPr>
            </a:pPr>
            <a:r>
              <a:t>部分完成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508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4757"/>
                </a:solidFill>
                <a:latin typeface="Microsoft YaHei"/>
              </a:defRPr>
            </a:pPr>
            <a:r>
              <a:t>优先级: 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当前: save_formfields 支持 linktype='form' 参数，但仅能设置跳转到建模查看页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D93B"/>
                </a:solidFill>
                <a:latin typeface="Microsoft YaHei"/>
              </a:defRPr>
            </a:pPr>
            <a:r>
              <a:t>缺口: 缺少：点击行跳转关联表单详情、从查询列表打开关联数据的完整链接配置、不同模块间数据穿透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影响: 用户在列表页看到数据后无法直接点击关联信息深入查看，需要手动切换菜单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87168"/>
            <a:ext cx="11064240" cy="932688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布局嵌入低代码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551176"/>
            <a:ext cx="822960" cy="228600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56946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5328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4757"/>
                </a:solidFill>
                <a:latin typeface="Microsoft YaHei"/>
              </a:defRPr>
            </a:pPr>
            <a:r>
              <a:t>优先级: 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0720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当前: layout_generate_layout_json 支持字段分组和排序，但仅生成标准表单布局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99008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D93B"/>
                </a:solidFill>
                <a:latin typeface="Microsoft YaHei"/>
              </a:defRPr>
            </a:pPr>
            <a:r>
              <a:t>缺口: 缺少：在布局中插入自定义 HTML/JS 组件、嵌入 iframe、集成第三方页面、嵌入自定义按钮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7296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影响: 复杂交互场景（如地图选点、图表展示、富文本编辑器）无法通过建模引擎实现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11296"/>
            <a:ext cx="11064240" cy="932688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5570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主从表/页面嵌套关联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3575304"/>
            <a:ext cx="822960" cy="228600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359359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5570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Microsoft YaHei"/>
              </a:defRPr>
            </a:pPr>
            <a:r>
              <a:t>优先级: 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31336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当前: 当前每个表单独立，浏览框可引用其他表单数据，但无主从结构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14216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D93B"/>
                </a:solidFill>
                <a:latin typeface="Microsoft YaHei"/>
              </a:defRPr>
            </a:pPr>
            <a:r>
              <a:t>缺口: 缺少：一对多明细表（如订单-明细行）、主从表联动保存、关联数据面板（侧滑展示关联记录）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97096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影响: 一对一简单结构可以，一对多场景（订单明细、费用明细）只能靠浏览框或手动维护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35424"/>
            <a:ext cx="11064240" cy="932688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581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权限精细控制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4599432"/>
            <a:ext cx="822960" cy="228600"/>
          </a:xfrm>
          <a:prstGeom prst="roundRect">
            <a:avLst/>
          </a:prstGeom>
          <a:solidFill>
            <a:srgbClr val="FFD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40" y="46177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Microsoft YaHei"/>
              </a:defRPr>
            </a:pPr>
            <a:r>
              <a:t>部分完成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5811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Microsoft YaHei"/>
              </a:defRPr>
            </a:pPr>
            <a:r>
              <a:t>优先级: 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855464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当前: module_create_module 自动创建 9 条默认权限（新建/编辑/查看/删除/共享等）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38344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D93B"/>
                </a:solidFill>
                <a:latin typeface="Microsoft YaHei"/>
              </a:defRPr>
            </a:pPr>
            <a:r>
              <a:t>缺口: 缺少：字段级权限（某些字段只读/隐藏）、行级权限（只能看自己的数据）、自定义权限规则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21224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影响: 所有人看到的字段完全一致，无法实现'普通员工看不到薪资字段'等细粒度控制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59552"/>
            <a:ext cx="11064240" cy="932688"/>
          </a:xfrm>
          <a:prstGeom prst="roundRect">
            <a:avLst/>
          </a:prstGeom>
          <a:solidFill>
            <a:srgbClr val="24243E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605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数据批量导入导出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0" y="5623560"/>
            <a:ext cx="822960" cy="228600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63240" y="56418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5605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A9AB0"/>
                </a:solidFill>
                <a:latin typeface="Microsoft YaHei"/>
              </a:defRPr>
            </a:pPr>
            <a:r>
              <a:t>优先级: 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7959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当前: 无 SDK 支持，仅能通过 OA 后台手动导入导出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06247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D93B"/>
                </a:solidFill>
                <a:latin typeface="Microsoft YaHei"/>
              </a:defRPr>
            </a:pPr>
            <a:r>
              <a:t>缺口: 缺少：Excel 模板下载、批量导入校验、导出带格式、定时导出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24535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影响: 初始化数据或批量操作只能手动在后台操作，无法自动化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未完成模块详解：定时任务 / 移动建模 / 低代码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520440" cy="53035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757"/>
                </a:solidFill>
                <a:latin typeface="Microsoft YaHei"/>
              </a:defRPr>
            </a:pPr>
            <a:r>
              <a:t>定时任务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9F43"/>
                </a:solidFill>
                <a:latin typeface="Microsoft YaHei"/>
              </a:defRPr>
            </a:pPr>
            <a:r>
              <a:t>优先级: 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822960" cy="228600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定时/轮询/自动执行/每天/定期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03120"/>
            <a:ext cx="324612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当前状态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泛微原生支持有限，仅 WorkFlowTimer 等基础定时器，复杂场景需自行开发 Java 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108960"/>
            <a:ext cx="324612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需要覆盖的能力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周期性自动执行 SQL 或接口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033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过期状态自动变更（如项目到期标记）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7764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每日/每周统计汇总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5196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超时未处理自动提醒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262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定时数据清理/归档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937759"/>
            <a:ext cx="324612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推进方案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25780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方案1: 封装 SDK 调用 WorkFlowTimer API</a:t>
            </a:r>
            <a:br/>
            <a:r>
              <a:t>方案2: 开发独立定时调度服务</a:t>
            </a:r>
            <a:br/>
            <a:r>
              <a:t>方案3: 查询时动态判断（伪实时）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1188720"/>
            <a:ext cx="3520440" cy="53035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3258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757"/>
                </a:solidFill>
                <a:latin typeface="Microsoft YaHei"/>
              </a:defRPr>
            </a:pPr>
            <a:r>
              <a:t>移动建模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A9AB0"/>
                </a:solidFill>
                <a:latin typeface="Microsoft YaHei"/>
              </a:defRPr>
            </a:pPr>
            <a:r>
              <a:t>优先级: 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1737360"/>
            <a:ext cx="822960" cy="228600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17556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171907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移动端/H5/小程序/企微/钉钉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103120"/>
            <a:ext cx="324612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19456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当前状态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242316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泛微建模页面可自动适配 H5，但自定义移动端布局无 SDK 支持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3108960"/>
            <a:ext cx="324612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20040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需要覆盖的能力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4290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移动端专属布局（不同于 PC 端）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7033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企微/钉钉消息推送集成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97764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移动端扫码/定位等原生能力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25196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移动端列表页优化（分页/下拉刷新）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5262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移动端审批快捷操作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4937759"/>
            <a:ext cx="324612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502920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推进方案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25780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方案1: 封装移动端布局 API</a:t>
            </a:r>
            <a:br/>
            <a:r>
              <a:t>方案2: 开发 H5 自定义页面模板</a:t>
            </a:r>
            <a:br/>
            <a:r>
              <a:t>方案3: 利用泛微移动端自适应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1188720"/>
            <a:ext cx="3520440" cy="53035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13258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757"/>
                </a:solidFill>
                <a:latin typeface="Microsoft YaHei"/>
              </a:defRPr>
            </a:pPr>
            <a:r>
              <a:t>低代码集成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32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9F43"/>
                </a:solidFill>
                <a:latin typeface="Microsoft YaHei"/>
              </a:defRPr>
            </a:pPr>
            <a:r>
              <a:t>优先级: 中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75320" y="1737360"/>
            <a:ext cx="822960" cy="228600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17556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未开始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171907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自定义页面/嵌入组件/数据联动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2103120"/>
            <a:ext cx="324612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219456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当前状态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242316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泛微支持自定义页面（ModeCustomPage），但无 SDK 支持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20" y="3108960"/>
            <a:ext cx="324612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320040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需要覆盖的能力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4290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在模块布局中插入自定义 HTML/JS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37033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嵌入第三方页面（iframe）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397764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自定义按钮触发脚本/接口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425196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数据可视化组件（图表/看板）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45262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9AB0"/>
                </a:solidFill>
                <a:latin typeface="Microsoft YaHei"/>
              </a:defRPr>
            </a:pPr>
            <a:r>
              <a:t>• 前后端数据联动（自定义 API）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20" y="4937759"/>
            <a:ext cx="324612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502920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推进方案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525780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方案1: 封装 ModeCustomPage SDK</a:t>
            </a:r>
            <a:br/>
            <a:r>
              <a:t>方案2: 开发组件市场/模板</a:t>
            </a:r>
            <a:br/>
            <a:r>
              <a:t>方案3: 集成第三方低代码平台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  <a:latin typeface="Microsoft YaHei"/>
              </a:defRPr>
            </a:pPr>
            <a:r>
              <a:t>推进路线图 — 按优先级分批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优先补齐建模引擎内部缺口，再拓展新能力域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" cy="320040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5"/>
                </a:solidFill>
                <a:latin typeface="Microsoft YaHe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建模引擎补全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757"/>
                </a:solidFill>
                <a:latin typeface="Microsoft YaHei"/>
              </a:defRPr>
            </a:pPr>
            <a:r>
              <a:t>P0 — 最高优先级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• 查询关联链接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4813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完善 linktype 配置，支持跳转关联表单详情页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7556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• 布局嵌入低代码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556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支持在模块布局中插入 HTML/JS/iframe 自定义组件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02996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4757"/>
                </a:solidFill>
                <a:latin typeface="Microsoft YaHei"/>
              </a:defRPr>
            </a:pPr>
            <a:r>
              <a:t>直接影响端到端交付质量，没有这两项很多场景只能半成品交付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11064240" cy="9144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743200"/>
            <a:ext cx="1097280" cy="32004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79776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5"/>
                </a:solidFill>
                <a:latin typeface="Microsoft YaHei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流程引擎自动化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971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F43"/>
                </a:solidFill>
                <a:latin typeface="Microsoft YaHei"/>
              </a:defRPr>
            </a:pPr>
            <a:r>
              <a:t>P1 — 高优先级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761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• 流程定义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7614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创建/编辑审批流程，配置节点和表单关联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0358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• 审批人规则 SDK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0358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按角色/部门/上级自动匹配审批人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310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• 流转条件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3101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字段值判断决定流程走向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58444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流程引擎是泛微最核心的能力，80% 的需求都涉及审批流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86200"/>
            <a:ext cx="11064240" cy="9144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4023360"/>
            <a:ext cx="1097280" cy="320040"/>
          </a:xfrm>
          <a:prstGeom prst="roundRect">
            <a:avLst/>
          </a:prstGeom>
          <a:solidFill>
            <a:srgbClr val="FFD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059936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5"/>
                </a:solidFill>
                <a:latin typeface="Microsoft YaHei"/>
              </a:defRPr>
            </a:pPr>
            <a: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977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精细化控制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251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93B"/>
                </a:solidFill>
                <a:latin typeface="Microsoft YaHei"/>
              </a:defRPr>
            </a:pPr>
            <a:r>
              <a:t>P2 — 中优先级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0416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• 主从表/页面嵌套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0416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一对多明细表、关联数据面板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315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• 权限精细控制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3159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字段级权限、行级权限、自定义规则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5902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• 定时任务封装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5902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周期执行、过期自动处理、定时统计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86460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D93B"/>
                </a:solidFill>
                <a:latin typeface="Microsoft YaHei"/>
              </a:defRPr>
            </a:pPr>
            <a:r>
              <a:t>提升交付精细度，覆盖更复杂的业务场景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166360"/>
            <a:ext cx="11064240" cy="9144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5303520"/>
            <a:ext cx="1097280" cy="3200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340096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5"/>
                </a:solidFill>
                <a:latin typeface="Microsoft YaHei"/>
              </a:defRPr>
            </a:pPr>
            <a:r>
              <a:t>Phase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Microsoft YaHei"/>
              </a:defRPr>
            </a:pPr>
            <a:r>
              <a:t>扩展能力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532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Microsoft YaHei"/>
              </a:defRPr>
            </a:pPr>
            <a:r>
              <a:t>P3 — 低优先级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3218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• 移动建模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53218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移动端专属布局、企微/钉钉集成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5596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• 低代码集成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55961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自定义页面、组件市场、数据联动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870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• 数据批量导入导出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58704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B0"/>
                </a:solidFill>
                <a:latin typeface="Microsoft YaHei"/>
              </a:defRPr>
            </a:pPr>
            <a:r>
              <a:t>Excel 模板、批量校验、定时导出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614476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锦上添花，扩展适用场景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Microsoft YaHei"/>
              </a:defRPr>
            </a:pPr>
            <a:r>
              <a:t>泛微二开能力全景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Microsoft YaHei"/>
              </a:defRPr>
            </a:pPr>
            <a:r>
              <a:t>已落地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757"/>
                </a:solidFill>
                <a:latin typeface="Microsoft YaHei"/>
              </a:defRPr>
            </a:pPr>
            <a:r>
              <a:t>待建设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icrosoft YaHei"/>
              </a:defRPr>
            </a:pPr>
            <a:r>
              <a:t>✓  需求分析 → 方案设计 → 执行 → 测试验收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icrosoft YaHei"/>
              </a:defRPr>
            </a:pPr>
            <a:r>
              <a:t>✓  10 大建模能力 + 30+ SDK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icrosoft YaHei"/>
              </a:defRPr>
            </a:pPr>
            <a:r>
              <a:t>✓  逆向推导 + 正向执行引擎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icrosoft YaHei"/>
              </a:defRPr>
            </a:pPr>
            <a:r>
              <a:t>✓  阻断检查 + 依赖排序机制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icrosoft YaHei"/>
              </a:defRPr>
            </a:pPr>
            <a:r>
              <a:t>✓  自动化测试验收闭环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757"/>
                </a:solidFill>
                <a:latin typeface="Microsoft YaHei"/>
              </a:defRPr>
            </a:pPr>
            <a:r>
              <a:t>○  流程引擎全链路自动化（P1）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757"/>
                </a:solidFill>
                <a:latin typeface="Microsoft YaHei"/>
              </a:defRPr>
            </a:pPr>
            <a:r>
              <a:t>○  查询关联链接 + 布局嵌入低代码（P0）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757"/>
                </a:solidFill>
                <a:latin typeface="Microsoft YaHei"/>
              </a:defRPr>
            </a:pPr>
            <a:r>
              <a:t>○  主从表/页面嵌套关联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757"/>
                </a:solidFill>
                <a:latin typeface="Microsoft YaHei"/>
              </a:defRPr>
            </a:pPr>
            <a:r>
              <a:t>○  权限精细控制（字段级/行级）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757"/>
                </a:solidFill>
                <a:latin typeface="Microsoft YaHei"/>
              </a:defRPr>
            </a:pPr>
            <a:r>
              <a:t>○  定时任务 SDK 封装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757"/>
                </a:solidFill>
                <a:latin typeface="Microsoft YaHei"/>
              </a:defRPr>
            </a:pPr>
            <a:r>
              <a:t>○  移动建模 + 低代码集成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757"/>
                </a:solidFill>
                <a:latin typeface="Microsoft YaHei"/>
              </a:defRPr>
            </a:pPr>
            <a:r>
              <a:t>○  数据批量导入导出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5943600"/>
            <a:ext cx="30175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6126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9AB0"/>
                </a:solidFill>
                <a:latin typeface="Microsoft YaHei"/>
              </a:defRPr>
            </a:pPr>
            <a:r>
              <a:t>泛微二次开发流程架构  |  2026.08  | 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